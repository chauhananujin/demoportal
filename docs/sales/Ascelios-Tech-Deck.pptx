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351215" y="914400"/>
            <a:ext cx="3200400" cy="3657600"/>
          </a:xfrm>
          <a:prstGeom prst="hexagon">
            <a:avLst/>
          </a:prstGeom>
          <a:noFill/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899855" y="1371600"/>
            <a:ext cx="2194560" cy="2743200"/>
          </a:xfrm>
          <a:prstGeom prst="hexagon">
            <a:avLst/>
          </a:prstGeom>
          <a:noFill/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ASCELIOS ·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800" b="1">
                <a:solidFill>
                  <a:srgbClr val="FFFFFF"/>
                </a:solidFill>
                <a:latin typeface="Helvetica Neue"/>
              </a:defRPr>
            </a:pPr>
            <a:r>
              <a:t>How the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800" b="1">
                <a:solidFill>
                  <a:srgbClr val="67E8F9"/>
                </a:solidFill>
                <a:latin typeface="Helvetica Neue"/>
              </a:defRPr>
            </a:pPr>
            <a:r>
              <a:t>actually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Helvetica Neue"/>
              </a:defRPr>
            </a:pPr>
            <a:r>
              <a:t>Architecture, RBAC, multi-tenant safety, Dynatrace integration,</a:t>
            </a:r>
            <a:br/>
            <a:r>
              <a:t>and how every Phase 1+2 piece composes into a single product.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52160"/>
            <a:ext cx="105156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For: engineering, security, ops, technical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What we'll cover.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Tech stack · App router · Provider tree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12848"/>
            <a:ext cx="548640" cy="548640"/>
          </a:xfrm>
          <a:prstGeom prst="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67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Identity &amp;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87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Auth · permission map · ticket workflow · user directory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9776"/>
            <a:ext cx="548640" cy="548640"/>
          </a:xfrm>
          <a:prstGeom prst="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7977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3405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Tenant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54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Onboarding orchestrator · MZ binding · simulated provisioning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46704"/>
            <a:ext cx="548640" cy="548640"/>
          </a:xfrm>
          <a:prstGeom prst="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4670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009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Dynatrace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210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Architecture · the MZ chokepoint · Phase 1+2 endpoints · cache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13632"/>
            <a:ext cx="548640" cy="548640"/>
          </a:xfrm>
          <a:prstGeom prst="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1363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679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Safety &amp;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1879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3 defense layers · mock/live boundary · soft failure ·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80560"/>
            <a:ext cx="548640" cy="548640"/>
          </a:xfrm>
          <a:prstGeom prst="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434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UX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Theme system · ⌘K command palette · onboarding submit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47488"/>
            <a:ext cx="548640" cy="548640"/>
          </a:xfrm>
          <a:prstGeom prst="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474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Helvetica Neue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0017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Build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218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Watch-demo (HyperFrames + Kokoro) · sales-deck generator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14416"/>
            <a:ext cx="548640" cy="548640"/>
          </a:xfrm>
          <a:prstGeom prst="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61441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Helvetica Neue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5686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88873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Phase 3-5 plan · open 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PART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Helvetica Neue"/>
              </a:defRPr>
            </a:pPr>
            <a:r>
              <a:t>How the code is laid out and what runs 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FOUNDATIONS ·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What the portal actually runs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577840" cy="256032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Helvetica Neue"/>
              </a:defRPr>
            </a:pPr>
            <a: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48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16.2.6 — App Router, Server Components, Route Handlers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19.2 — strict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5.x — strict everywhere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5577840" cy="256032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Helvetica Neue"/>
              </a:defRPr>
            </a:pPr>
            <a:r>
              <a:t>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Tailwind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v4 — @theme CSS vars, brand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shadcn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Button / Card / Input / Label / Textarea / Badge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base-ui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Headless primitives for 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Custom SVG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Animated logo, sparklines, area charts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60520"/>
            <a:ext cx="5577840" cy="256032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Helvetica Neue"/>
              </a:defRPr>
            </a:pPr>
            <a:r>
              <a:t>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548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React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754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Auth, UserDirectory, Tickets, Tenants, PortalTheme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66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localStorage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Demo persistence: session, users, tickets, tenants, theme, onboarding draft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160520"/>
            <a:ext cx="5577840" cy="256032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Helvetica Neue"/>
              </a:defRPr>
            </a:pPr>
            <a:r>
              <a:t>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7548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Route Handlers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754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/api/dynatrace/{summary,entities,metrics}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66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OAuth broker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client_credentials → Dynatrace 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5778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In-memory cache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577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TTL'd response cache, Redis swap-in for Phase 2+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FOUNDATIONS · APP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Three route groups, one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141732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enlo"/>
              </a:defRPr>
            </a:pPr>
            <a:r>
              <a:t>(marketing)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1051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/services/{sap,data,btp,cloud,devops}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/case-studies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/about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/contact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11064240" cy="141732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Menlo"/>
              </a:defRPr>
            </a:pPr>
            <a:r>
              <a:t>(onboarding)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3649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Public, own provider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/onboarding   (5-step wizard)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wraps UserDirectory + Tenant + Ticket providers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writes to localStorage → portal sees the new tenant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11064240" cy="141732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Menlo"/>
              </a:defRPr>
            </a:pPr>
            <a:r>
              <a:t>(portal)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9194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Authenticated, gated by PortalAuthGate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/portal/dashboard · /portal/monitoring · /portal/monitoring/[entityId]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/portal/tenants · /portal/tickets · /portal/infrastructure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/portal/admin/users (RBAC manage:users)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/portal/billing · /portal/backups · /portal/services ·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FOUNDATIONS · PROVIDER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Context layering inside the portal.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1847088"/>
            <a:ext cx="164592" cy="1645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PortalThemeProvider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theme: 'dark' | 'light' — sets data-portal-theme on shell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783080"/>
            <a:ext cx="9966960" cy="8686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61872" y="2075688"/>
            <a:ext cx="164592" cy="16459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920240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UserDirectoryProvider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40280"/>
            <a:ext cx="9052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Users seeded from DEMO_ACCOUNTS + localStorage; admin CRUD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011680"/>
            <a:ext cx="9235440" cy="8686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27632" y="2304288"/>
            <a:ext cx="164592" cy="164592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14884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AuthProvider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46888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Session in localStorage; login() reads UserDirectory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240280"/>
            <a:ext cx="8503920" cy="8686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93392" y="2532888"/>
            <a:ext cx="164592" cy="1645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2377440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TicketProvider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69748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Tickets, two-stage approval, addNote, session-derived author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2468880"/>
            <a:ext cx="7772400" cy="8686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59152" y="2761488"/>
            <a:ext cx="164592" cy="1645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6060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TenantProvider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926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Tenants + simulated provisioning timer + Agreement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2697480"/>
            <a:ext cx="7040880" cy="8686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24912" y="2990088"/>
            <a:ext cx="164592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2834640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PortalAuthGate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1546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Redirects if not authed; mounts &lt;CommandPalette /&gt; overlay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Helvetica Neue"/>
              </a:defRPr>
            </a:pPr>
            <a:r>
              <a:t>Children render below; descendants can read every provider above them.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PART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Identity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Helvetica Neue"/>
              </a:defRPr>
            </a:pPr>
            <a:r>
              <a:t>Auth, the permission map, two-stage approval workflow, and tenant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IDENTITY &amp; RBAC · AUTH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Demo-grade today, swap-ready for real IdP.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828800" cy="10972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/portal/login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Email + password 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97440" y="2377440.0"/>
            <a:ext cx="23432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1828800"/>
            <a:ext cx="1828800" cy="10972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65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AuthProvider.login()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31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findByCredentials() in UserDirectory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00560" y="2377440.0"/>
            <a:ext cx="23432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80" y="1828800"/>
            <a:ext cx="1828800" cy="10972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965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localStorage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31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Sets ascelios_session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03680" y="2377440.0"/>
            <a:ext cx="23432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0" y="1828800"/>
            <a:ext cx="1828800" cy="10972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965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PortalAuthGate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331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Reads session; admits or redirects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06800" y="2377440.0"/>
            <a:ext cx="23432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1828800"/>
            <a:ext cx="1828800" cy="10972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965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331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Renders with useAuth() / usePermission()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11064240" cy="2377440"/>
          </a:xfrm>
          <a:prstGeom prst="roundRect">
            <a:avLst/>
          </a:prstGeom>
          <a:solidFill>
            <a:srgbClr val="05141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lib/auth/auth-context.tsx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export function AuthProvider({ children }: { children: ReactNode })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const { findByCredentials } = useUserDirectory();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const login = async (email: string, password: string) =&gt;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const account = findByCredentials(email, password);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if (!account) return "invalid";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const session = { email: account.email, role: account.role, loginAt: ... };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localStorage.setItem(SESSION_KEY, JSON.stringify(session));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setUser(session);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return "ok";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};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// ...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IDENTITY &amp; RBAC · PERMISSION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Single source of truth in lib/auth/permissions.ts.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297680" cy="36576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enlo"/>
              </a:defRPr>
            </a:pPr>
            <a:r>
              <a:t>PortalAction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554480"/>
            <a:ext cx="2286000" cy="36576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FB7185"/>
                </a:solidFill>
                <a:latin typeface="Helvetica Neue"/>
              </a:defRPr>
            </a:pPr>
            <a:r>
              <a:t>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554480"/>
            <a:ext cx="2286000" cy="36576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554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Helvetica Neue"/>
              </a:defRPr>
            </a:pPr>
            <a:r>
              <a:t>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1554480"/>
            <a:ext cx="2286000" cy="36576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554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Helvetica Neue"/>
              </a:defRPr>
            </a:pPr>
            <a:r>
              <a:t>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20240"/>
            <a:ext cx="429768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202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view:tickets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92024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92024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92024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286000"/>
            <a:ext cx="429768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2860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create:ticket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28600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228600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28600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51760"/>
            <a:ext cx="429768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26517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update:ticket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65176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265176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265176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017520"/>
            <a:ext cx="429768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017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approve:stage1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301752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301752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301752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383280"/>
            <a:ext cx="429768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3832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approve:stage2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338328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3383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338328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3383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338328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3383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749040"/>
            <a:ext cx="429768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37490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reject:ticket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6320" y="374904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3749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374904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0" y="3749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374904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18320" y="3749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114800"/>
            <a:ext cx="429768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41148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request:provision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46320" y="411480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632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0" y="411480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0" y="411480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2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4480560"/>
            <a:ext cx="429768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4805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request:sap-operation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46320" y="448056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46320" y="4480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32320" y="448056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32320" y="4480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18320" y="448056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18320" y="4480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4846320"/>
            <a:ext cx="429768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48463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request:infra-operation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46320" y="484632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46320" y="4846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32320" y="484632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32320" y="4846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18320" y="484632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18320" y="4846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5212080"/>
            <a:ext cx="429768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52120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request:add-funds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46320" y="521208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46320" y="5212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32320" y="521208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0" y="5212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18320" y="5212080"/>
            <a:ext cx="2286000" cy="36576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18320" y="5212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5577840"/>
            <a:ext cx="429768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55778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manage:users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46320" y="557784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46320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32320" y="557784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32320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418320" y="5577840"/>
            <a:ext cx="2286000" cy="36576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18320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manage:users granted to manager + admin — both can create logins and assign roles.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IDENTITY &amp; RBAC · TICKET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Two-stage approval, SOX-compliant audit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2194560" cy="10058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0891B2"/>
                </a:solidFill>
                <a:latin typeface="Menlo"/>
              </a:defRPr>
            </a:pPr>
            <a:r>
              <a:t>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108960"/>
            <a:ext cx="2194560" cy="10058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1089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  <a:latin typeface="Menlo"/>
              </a:defRPr>
            </a:pPr>
            <a:r>
              <a:t>pending_manager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108960"/>
            <a:ext cx="2194560" cy="10058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1089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Menlo"/>
              </a:defRPr>
            </a:pPr>
            <a:r>
              <a:t>pending_admin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194560"/>
            <a:ext cx="2194560" cy="10058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21945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Menlo"/>
              </a:defRPr>
            </a:pPr>
            <a:r>
              <a:t>approved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4023360"/>
            <a:ext cx="2194560" cy="10058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402336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B7185"/>
                </a:solidFill>
                <a:latin typeface="Menlo"/>
              </a:defRPr>
            </a:pPr>
            <a:r>
              <a:t>rejected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3611880.0"/>
            <a:ext cx="73152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5176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Menlo"/>
              </a:defRPr>
            </a:pPr>
            <a:r>
              <a:t>createTicket()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3611880.0"/>
            <a:ext cx="73152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7784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Menlo"/>
              </a:defRPr>
            </a:pPr>
            <a:r>
              <a:t>approveStage1()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778240" y="2697480.0"/>
            <a:ext cx="731520" cy="91440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03920" y="2788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Menlo"/>
              </a:defRPr>
            </a:pPr>
            <a:r>
              <a:t>approveStage2()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3611880.0"/>
            <a:ext cx="3657600" cy="91440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40880" y="43891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Menlo"/>
              </a:defRPr>
            </a:pPr>
            <a:r>
              <a:t>rejectTicket()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0" y="3611880.0"/>
            <a:ext cx="731520" cy="91440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03920" y="4114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Menlo"/>
              </a:defRPr>
            </a:pPr>
            <a:r>
              <a:t>rejectTicket()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200">
                <a:solidFill>
                  <a:srgbClr val="CBD5E1"/>
                </a:solidFill>
                <a:latin typeface="Helvetica Neue"/>
              </a:rPr>
              <a:t>approve:stage1 — Manager + Admin (manager is the gate-keeper for stage 1)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200">
                <a:solidFill>
                  <a:srgbClr val="CBD5E1"/>
                </a:solidFill>
                <a:latin typeface="Helvetica Neue"/>
              </a:rPr>
              <a:t>approve:stage2 — Admin only (final execution authority)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200">
                <a:solidFill>
                  <a:srgbClr val="CBD5E1"/>
                </a:solidFill>
                <a:latin typeface="Helvetica Neue"/>
              </a:rPr>
              <a:t>Every transition records {by, at, note, outcome} on the ticket — exportable for auditors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200">
                <a:solidFill>
                  <a:srgbClr val="CBD5E1"/>
                </a:solidFill>
                <a:latin typeface="Helvetica Neue"/>
              </a:rPr>
              <a:t>Approvals via ⌘K (`/approve TKT-XXXX`) are full-fidelity tickets with the same audit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TENANT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From signed agreement to active workspace.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9144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Onboarding submit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Wizard form → 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103120.0"/>
            <a:ext cx="9144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77440" y="1645920"/>
            <a:ext cx="1828800" cy="9144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createAgreement()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MSA hash + DPA accept + signed name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06240" y="2103120.0"/>
            <a:ext cx="9144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97680" y="1645920"/>
            <a:ext cx="1828800" cy="9144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createTenant()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Synthetic 19-digit MZ id assigned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6480" y="2103120.0"/>
            <a:ext cx="9144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0" y="1645920"/>
            <a:ext cx="1828800" cy="9144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createTicket()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type=provision, attributed to admin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46720" y="2103120.0"/>
            <a:ext cx="9144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38160" y="1645920"/>
            <a:ext cx="1828800" cy="9144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login()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auto-login, push session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66960" y="2103120.0"/>
            <a:ext cx="9144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58400" y="1645920"/>
            <a:ext cx="1828800" cy="9144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redirect()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Helvetica Neue"/>
              </a:defRPr>
            </a:pPr>
            <a:r>
              <a:t>→ /portal/dashboard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08960"/>
            <a:ext cx="11247120" cy="14630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Simulated provisioning timer (4.5s per stage)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49039"/>
            <a:ext cx="2139696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49039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0D1F2D"/>
                </a:solidFill>
                <a:latin typeface="Helvetica Neue"/>
              </a:defRPr>
            </a:pPr>
            <a:r>
              <a:t>Validating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25496" y="3749039"/>
            <a:ext cx="2139696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25496" y="3749039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0D1F2D"/>
                </a:solidFill>
                <a:latin typeface="Helvetica Neue"/>
              </a:defRPr>
            </a:pPr>
            <a:r>
              <a:t>Creating cloud account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10912" y="3749039"/>
            <a:ext cx="2139696" cy="50292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749039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0D1F2D"/>
                </a:solidFill>
                <a:latin typeface="Helvetica Neue"/>
              </a:defRPr>
            </a:pPr>
            <a:r>
              <a:t>Network &amp; IAM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96328" y="3749039"/>
            <a:ext cx="2139696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96328" y="3749039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0D1F2D"/>
                </a:solidFill>
                <a:latin typeface="Helvetica Neue"/>
              </a:defRPr>
            </a:pPr>
            <a:r>
              <a:t>Bootstrapping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81744" y="3749039"/>
            <a:ext cx="2139696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1744" y="3749039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0D1F2D"/>
                </a:solidFill>
                <a:latin typeface="Helvetica Neue"/>
              </a:defRPr>
            </a:pPr>
            <a:r>
              <a:t>Tenant active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377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200">
                <a:solidFill>
                  <a:srgbClr val="CBD5E1"/>
                </a:solidFill>
                <a:latin typeface="Helvetica Neue"/>
              </a:rPr>
              <a:t>Tenant.dynatrace.managementZoneId — 19-digit synthetic ID derived from tenant.id (deterministic)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200">
                <a:solidFill>
                  <a:srgbClr val="CBD5E1"/>
                </a:solidFill>
                <a:latin typeface="Helvetica Neue"/>
              </a:rPr>
              <a:t>Tenant ↔ Agreement bound by id; agreement hashes the MSA + DPA + timestamp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200">
                <a:solidFill>
                  <a:srgbClr val="CBD5E1"/>
                </a:solidFill>
                <a:latin typeface="Helvetica Neue"/>
              </a:rPr>
              <a:t>TenantProvider's setInterval advances stageIndex; UI banners + tenant rows update live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200">
                <a:solidFill>
                  <a:srgbClr val="CBD5E1"/>
                </a:solidFill>
                <a:latin typeface="Helvetica Neue"/>
              </a:rPr>
              <a:t>Dashboard polls every 30s through the same providers — no extra wiring needed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PART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Dynatrace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Helvetica Neue"/>
              </a:defRPr>
            </a:pPr>
            <a:r>
              <a:t>Architecture, the MZ chokepoint, multi-tenant safety, mock↔live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DYNATRACE INTEGRATION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Browser → Next route → token broker → Dynatrace 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828800" cy="14630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Portal (browser)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Menlo"/>
              </a:defRPr>
            </a:pPr>
            <a:r>
              <a:t>useDynatraceSummary()</a:t>
            </a:r>
            <a:br/>
            <a:r>
              <a:t>useDynatraceEntities()</a:t>
            </a:r>
            <a:br/>
            <a:r>
              <a:t>useDynatraceMetrics()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11680"/>
            <a:ext cx="1828800" cy="14630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Next.js Route Handler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51460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Menlo"/>
              </a:defRPr>
            </a:pPr>
            <a:r>
              <a:t>/api/dynatrace/{summary,entities,metrics}</a:t>
            </a:r>
            <a:br/>
            <a:r>
              <a:t>parseTenantPayload → resolveTenantMz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011680"/>
            <a:ext cx="1828800" cy="14630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148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Token broker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51460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Menlo"/>
              </a:defRPr>
            </a:pPr>
            <a:r>
              <a:t>getDynatraceToken()</a:t>
            </a:r>
            <a:br/>
            <a:r>
              <a:t>OAuth client_credentials</a:t>
            </a:r>
            <a:br/>
            <a:r>
              <a:t>in-memory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2011680"/>
            <a:ext cx="1828800" cy="14630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2148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Dynatrace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251460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Menlo"/>
              </a:defRPr>
            </a:pPr>
            <a:r>
              <a:t>Problems v2 · Metrics v2</a:t>
            </a:r>
            <a:br/>
            <a:r>
              <a:t>Entities v2 · Grail DQL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4023360"/>
            <a:ext cx="1828800" cy="14630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1605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In-memory cache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52628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Menlo"/>
              </a:defRPr>
            </a:pPr>
            <a:r>
              <a:t>TTLs:</a:t>
            </a:r>
            <a:br/>
            <a:r>
              <a:t>summary 30s · entities 5m</a:t>
            </a:r>
            <a:br/>
            <a:r>
              <a:t>metrics 60s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023360"/>
            <a:ext cx="1828800" cy="14630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41605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Mock generator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Menlo"/>
              </a:defRPr>
            </a:pPr>
            <a:r>
              <a:t>generateMockSummary / Entities / Series</a:t>
            </a:r>
            <a:br/>
            <a:r>
              <a:t>deterministic per MZ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86000" y="2743200.0"/>
            <a:ext cx="137160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0" y="2743200.0"/>
            <a:ext cx="164592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61120" y="2743200.0"/>
            <a:ext cx="137160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.0" y="3474720"/>
            <a:ext cx="0.0" cy="54864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3200400"/>
            <a:ext cx="1645920" cy="1554480.0"/>
          </a:xfrm>
          <a:prstGeom prst="line">
            <a:avLst/>
          </a:prstGeom>
          <a:ln w="15875">
            <a:solidFill>
              <a:srgbClr val="FBBF24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94960" y="3657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FBBF24"/>
                </a:solidFill>
                <a:latin typeface="Menlo"/>
              </a:defRPr>
            </a:pPr>
            <a:r>
              <a:t>DYNATRACE_MOCK=true (default)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Helvetica Neue"/>
              </a:defRPr>
            </a:pPr>
            <a:r>
              <a:t>MZ id is injected by the route from session — caller-supplied managementZone in query is ignored.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DYNATRACE INTEGRATION · THE MZ CHOKEPOINT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Multi-tenant safety enforced at the type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Helvetica Neue"/>
              </a:defRPr>
            </a:pPr>
            <a:r>
              <a:t>Every Dynatrace request must pass through dtClient.get(), and the client throws if managementZoneId is missing.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155680" cy="4206240"/>
          </a:xfrm>
          <a:prstGeom prst="roundRect">
            <a:avLst/>
          </a:prstGeom>
          <a:solidFill>
            <a:srgbClr val="05141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98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lib/dynatrace/client.ts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export class UnscopedQueryError extends Error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constructor()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super("dynatrace client: managementZoneId is required on every request");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function assertScoped(mzId: string | undefined): asserts mzId is string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if (!mzId || mzId.trim() === "") throw new UnscopedQueryError();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export const dtClient =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async get&lt;T&gt;(path: string, opts: GetOpts): Promise&lt;T&gt;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  assertScoped(opts.managementZoneId);                       // mandatory scope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const params = new URLSearchParams();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for (const [k, v] of Object.entries(opts.query ?? {}))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    if (k.toLowerCase() === "managementzone") continue;       // caller can't override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params.set(k, String(v));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  params.set("managementZone", opts.managementZoneId);        // route always wins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return fetch(`${envUrl()}${path}?${params}`, ...);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},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SAFETY · 3 LAYERS OF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If one layer fails, the next two still 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13716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822960" cy="8229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>
                <a:solidFill>
                  <a:srgbClr val="0D1F2D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enlo"/>
              </a:defRPr>
            </a:pPr>
            <a:r>
              <a:t>TYPE-LEVEL CHOKEPOINT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3172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dtClient.get() throws UnscopedQueryError if managementZoneId is missing or empty. Single import, single chokepoint, single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4680"/>
            <a:ext cx="11064240" cy="13716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822960" cy="82296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>
                <a:solidFill>
                  <a:srgbClr val="0D1F2D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29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Menlo"/>
              </a:defRPr>
            </a:pPr>
            <a:r>
              <a:t>SERVER-DERIVED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Route handlers re-derive the MZ from the session (resolveTenantMz). Client-supplied ?managementZone= is ignored.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11064240" cy="13716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937760"/>
            <a:ext cx="822960" cy="82296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>
                <a:solidFill>
                  <a:srgbClr val="0D1F2D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377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Menlo"/>
              </a:defRPr>
            </a:pPr>
            <a:r>
              <a:t>DYNATRACE PERMISSION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492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Each customer's MZ has its own permission group bound to their SSO users. Even a leaked Ascelios token can't show them another customer's data via the Dynatrace UI.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Helvetica Neue"/>
              </a:defRPr>
            </a:pPr>
            <a:r>
              <a:t>Tested: client.test.ts (4 cases) + integration plan to assert cross-MZ leaks return zero rows.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DYNATRACE INTEGRATION · API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What's live in Phase 1+2.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097280" cy="50292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enlo"/>
              </a:defRPr>
            </a:pPr>
            <a: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645920"/>
            <a:ext cx="3200400" cy="50292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6459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enlo"/>
              </a:defRPr>
            </a:pPr>
            <a:r>
              <a:t>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645920"/>
            <a:ext cx="2560320" cy="50292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6459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enlo"/>
              </a:defRPr>
            </a:pPr>
            <a:r>
              <a:t>Response shape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45920"/>
            <a:ext cx="1280160" cy="50292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6459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enlo"/>
              </a:defRPr>
            </a:pPr>
            <a:r>
              <a:t>Cache TTL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645920"/>
            <a:ext cx="2834640" cy="50292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6459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enlo"/>
              </a:defRPr>
            </a:pPr>
            <a:r>
              <a:t>Returns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109728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488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FBBF24"/>
                </a:solidFill>
                <a:latin typeface="Menlo"/>
              </a:defRPr>
            </a:pPr>
            <a:r>
              <a:t>POST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2148840"/>
            <a:ext cx="320040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21488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/api/dynatrace/summary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148840"/>
            <a:ext cx="256032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1488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DtSummary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148840"/>
            <a:ext cx="128016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1488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30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148840"/>
            <a:ext cx="283464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21488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6 metrics + recent activity feed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51760"/>
            <a:ext cx="109728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65176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FBBF24"/>
                </a:solidFill>
                <a:latin typeface="Menlo"/>
              </a:defRPr>
            </a:pPr>
            <a:r>
              <a:t>POST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2651760"/>
            <a:ext cx="320040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83080" y="26517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/api/dynatrace/entities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651760"/>
            <a:ext cx="256032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26517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DtEntitiesResponse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651760"/>
            <a:ext cx="128016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26517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2651760"/>
            <a:ext cx="283464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26517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Monitored hosts/services/databases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154680"/>
            <a:ext cx="109728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15468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FBBF24"/>
                </a:solidFill>
                <a:latin typeface="Menlo"/>
              </a:defRPr>
            </a:pPr>
            <a:r>
              <a:t>POST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3154680"/>
            <a:ext cx="320040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83080" y="31546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/api/dynatrace/metrics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3154680"/>
            <a:ext cx="256032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31546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DtMetricsResponse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3154680"/>
            <a:ext cx="128016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31546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60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154680"/>
            <a:ext cx="2834640" cy="50292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31546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Menlo"/>
              </a:defRPr>
            </a:pPr>
            <a:r>
              <a:t>1-h series, multi-selector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931920"/>
            <a:ext cx="11064240" cy="2011680"/>
          </a:xfrm>
          <a:prstGeom prst="roundRect">
            <a:avLst/>
          </a:prstGeom>
          <a:solidFill>
            <a:srgbClr val="05141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11480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Error responses — all routes share the same shape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type DtSummaryError =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error: string;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code: "no_tenant" | "no_dt_mz" | "upstream"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| "config" | "unauthorized" | "not_found";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};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Status codes mapped by handler:  400 (bad request) | 404 (no MZ binding)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                                 500 (config) | 502 (upstream)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DYNATRACE INTEGRATION · MOCK ↔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One env var. Zero UI changes. Identical shapes.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572000"/>
          </a:xfrm>
          <a:prstGeom prst="roundRect">
            <a:avLst/>
          </a:prstGeom>
          <a:solidFill>
            <a:srgbClr val="05141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.env.example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DYNATRACE_MOCK=true                  # default: deterministic mocks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# When DYNATRACE_MOCK=false, these are required: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DYNATRACE_ENV_URL=https://abc.live.dynatrace.com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DYNATRACE_SSO_URL=https://sso.dynatrace.com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DYNATRACE_OAUTH_CLIENT_ID=...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DYNATRACE_OAUTH_CLIENT_SECRET=...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DYNATRACE_OAUTH_ACCOUNT_URN=urn:dtaccount:...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94960" cy="4572000"/>
          </a:xfrm>
          <a:prstGeom prst="roundRect">
            <a:avLst/>
          </a:prstGeom>
          <a:solidFill>
            <a:srgbClr val="05141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route handler — same skeleton everywhere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if (isMockMode())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const data = generateMockSummary({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tenantId, tenantName,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managementZoneId, managementZoneName,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});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cacheSet(key, data, TTL_MS);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return NextResponse.json(data);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Live path: same DtSummary, real data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const live = await dtClient.get(...);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return NextResponse.json(reshape(live));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Helvetica Neue"/>
              </a:defRPr>
            </a:pPr>
            <a:r>
              <a:t>Determinism: same MZ id → same numbers across reloads (mulberry32 PRNG seeded by mz:entity:selector).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DYNATRACE INTEGRATION · CACHE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TTLs sized to keep us well under Dynatrace rate limits.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Menlo"/>
              </a:defRPr>
            </a:pPr>
            <a:r>
              <a:t>/api/dynatrace/summary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373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Menlo"/>
              </a:defRPr>
            </a:pPr>
            <a:r>
              <a:t>30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Dashboard polls every 30 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Menlo"/>
              </a:defRPr>
            </a:pPr>
            <a:r>
              <a:t>/api/dynatrace/problems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31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Menlo"/>
              </a:defRPr>
            </a:pPr>
            <a:r>
              <a:t>30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31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Latency matters during incidents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1106424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Menlo"/>
              </a:defRPr>
            </a:pPr>
            <a:r>
              <a:t>/api/dynatrace/hosts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Menlo"/>
              </a:defRPr>
            </a:pPr>
            <a:r>
              <a:t>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9260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Inventory changes slowly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1106424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Menlo"/>
              </a:defRPr>
            </a:pPr>
            <a:r>
              <a:t>/api/dynatrace/entities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204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Menlo"/>
              </a:defRPr>
            </a:pPr>
            <a:r>
              <a:t>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204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Same — host + service catalog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106424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Menlo"/>
              </a:defRPr>
            </a:pPr>
            <a:r>
              <a:t>/api/dynatrace/metrics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1148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Menlo"/>
              </a:defRPr>
            </a:pPr>
            <a:r>
              <a:t>60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148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Matches Dynatrace's natural granularity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Menlo"/>
              </a:defRPr>
            </a:pPr>
            <a:r>
              <a:t>/api/dynatrace/topology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709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Menlo"/>
              </a:defRPr>
            </a:pPr>
            <a:r>
              <a:t>10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7091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Smartscape is expensive; rare changes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03520"/>
            <a:ext cx="11064240" cy="50292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035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Menlo"/>
              </a:defRPr>
            </a:pPr>
            <a:r>
              <a:t>/api/dynatrace/logs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303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Menlo"/>
              </a:defRPr>
            </a:pPr>
            <a: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3035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DQL queries are user-initiated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Helvetica Neue"/>
              </a:defRPr>
            </a:pPr>
            <a:r>
              <a:t>Phase 1: in-memory Map cache, single Next.js instance. Swap to @vercel/kv or Redis when we go multi-region.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DATA · CLIENT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SWR-style polling, visibility throttle, AbortController on unmount.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155680" cy="4572000"/>
          </a:xfrm>
          <a:prstGeom prst="roundRect">
            <a:avLst/>
          </a:prstGeom>
          <a:solidFill>
            <a:srgbClr val="05141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lib/dynatrace/use-dynatrace-summary.ts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export function useDynatraceSummary(tenant: Tenant | null): State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const [state, setState] = useState&lt;State&gt;(initial);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useEffect(() =&gt;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if (!tenant) return;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const controller = new AbortController();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async function fetchOnce()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const res = await fetch("/api/dynatrace/summary",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  method: "POST",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  headers: { "content-type": "application/json" },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  body: JSON.stringify({ tenant }),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  signal: controller.signal,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});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const json = await res.json();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    // On error: keep last successful data, badge as 'stale'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setState("error" in json ? { ...prev, error: json } : { data: json, ... });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fetchOnce();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const t = setInterval(() =&gt;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  if (document.visibilityState === "visible") fetchOnce();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}, 30_000);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  return () =&gt; { controller.abort(); clearInterval(t); };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}, [tenant]);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return state;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PART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UX, build pipeline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Helvetica Neue"/>
              </a:defRPr>
            </a:pPr>
            <a:r>
              <a:t>Theme, command palette, onboarding orchestrator, demo pipeline, and what's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UX · THEME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CSS variables + scoped attribute. ~30 pages, zero rewrites.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155680" cy="4572000"/>
          </a:xfrm>
          <a:prstGeom prst="roundRect">
            <a:avLst/>
          </a:prstGeom>
          <a:solidFill>
            <a:srgbClr val="05141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styles/globals.css — scoped override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[data-portal-theme="light"],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[data-portal-theme="light"].bg-\[\#0a1929\]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--brand-bg:           #F8FAFC;      /* slate-50 */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--brand-surface:      #FFFFFF;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--brand-primary:      #0E7490;      /* darker cyan for contrast */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--brand-accent:       #0891B2;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background-color:     #F1F5F9;     /* outer shell flip */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/* Remap dark-only utilities */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[data-portal-theme="light"] .text-white       { color: #0F172A;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[data-portal-theme="light"] .text-slate-400   { color: #475569;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[data-portal-theme="light"] .bg-white\/5      { background: rgb(15 23 42 / 0.035);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[data-portal-theme="light"] .border-white\/8  { border-color: rgb(15 23 42 / 0.09);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[data-portal-theme="light"] img[src="/ascelios-logo.svg"]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{ filter: invert(1) hue-rotate(180deg);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React side: data-portal-theme={theme} on the portal shell &lt;div&gt;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Persistence: localStorage.ascelios_portal_theme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UX · ⌘K COMMAND PALETTE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One input, three modes: search · slash command ·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Inputs starting with / are slash-mode; everything else is ranked search + Ask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949440" cy="4114800"/>
          </a:xfrm>
          <a:prstGeom prst="roundRect">
            <a:avLst/>
          </a:prstGeom>
          <a:solidFill>
            <a:srgbClr val="05141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6492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Slash commands resolved at type-time: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const COMMANDS = [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/help                                 - list commands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/go &lt;page&gt;                            - navigate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/approve TKT-XXXX                     - stage1 or stage2 by role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/reject TKT-XXXX [reason]             - rejectTicket()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/comment TKT-XXXX &lt;text&gt;              - addNote()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/ticket &lt;type&gt; &lt;title&gt;                - createTicket()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/provision &lt;cloud&gt; &lt;details&gt;          - provision ticket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/tenant &lt;name&gt;                        - tenant status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  /ask &lt;question&gt;                       - chat fallback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];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Permission gate on every action: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if (!hasPermission(role, "approve:stage1"))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  return showFlash("You can't approve at this stage.");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103120"/>
            <a:ext cx="3840480" cy="411480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240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7E8F9"/>
                </a:solidFill>
                <a:latin typeface="Helvetica Neue"/>
              </a:defRPr>
            </a:pPr>
            <a:r>
              <a:t>Result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651760"/>
            <a:ext cx="36576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TKT-XXXX in query → direct hit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Pages (fuzzy by label + keywords)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Tickets (id + title)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Tenants (name)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Ask: "&lt;query&gt;" always last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ONBOARDING · SUBMIT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6 operations, 1 button. Atomic from the user's POV.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64592" cy="640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Menl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createUser()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7373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UserDirectoryProvider.createUser({ email, password, role: 'admin' 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59152"/>
            <a:ext cx="11064240" cy="64008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64592" cy="640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Menl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5059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createAgreement()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50592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TenantProvider — MSA hash + DPA + signed name + timestamp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72384"/>
            <a:ext cx="11064240" cy="64008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72384"/>
            <a:ext cx="164592" cy="640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638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Menlo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6382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createTenant() ×N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16382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Per-tenant — synthetic 19-digit MZ id, status=provisioning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85616"/>
            <a:ext cx="11064240" cy="64008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85616"/>
            <a:ext cx="164592" cy="640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770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Menlo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7705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ascelios_session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77056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localStorage write so createTicket attributes the right author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98848"/>
            <a:ext cx="11064240" cy="640080"/>
          </a:xfrm>
          <a:prstGeom prst="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498848"/>
            <a:ext cx="164592" cy="640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902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Menlo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902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createTicket()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59028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type=provision, title=New customer onboarding — Acme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212080"/>
            <a:ext cx="164592" cy="640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035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Menlo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303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enlo"/>
              </a:defRPr>
            </a:pPr>
            <a:r>
              <a:t>login() + redirect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30352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Helvetica Neue"/>
              </a:defRPr>
            </a:pPr>
            <a:r>
              <a:t>auto-login through AuthProvider; router.push('/portal/dashboard')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Helvetica Neue"/>
              </a:defRPr>
            </a:pPr>
            <a:r>
              <a:t>If createUser fails (duplicate email), the wizard surfaces the error and nothing else fires.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BUILD · WATCH-DEMO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From screenshots to narrated MP4 in one Python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103120" cy="15544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Browser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Helvetica Neue"/>
              </a:defRPr>
            </a:pPr>
            <a:r>
              <a:t>gstack browse → 11 PNG scenes</a:t>
            </a:r>
            <a:br/>
            <a:r>
              <a:t>@ 1280×720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606040.0"/>
            <a:ext cx="9144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828800"/>
            <a:ext cx="2103120" cy="15544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Narration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2316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Helvetica Neue"/>
              </a:defRPr>
            </a:pPr>
            <a:r>
              <a:t>npx hyperframes tts → 11 WAVs</a:t>
            </a:r>
            <a:br/>
            <a:r>
              <a:t>Kokoro-82M, voice af_nova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46320" y="2606040.0"/>
            <a:ext cx="9144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60" y="1828800"/>
            <a:ext cx="2103120" cy="15544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011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Composition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2316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Helvetica Neue"/>
              </a:defRPr>
            </a:pPr>
            <a:r>
              <a:t>GSAP timeline</a:t>
            </a:r>
            <a:br/>
            <a:r>
              <a:t>scene fades + caption rises</a:t>
            </a:r>
            <a:br/>
            <a:r>
              <a:t>brand pulse + progress bar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80" y="2606040.0"/>
            <a:ext cx="9144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2320" y="1828800"/>
            <a:ext cx="2103120" cy="15544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011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Lint + Inspect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42316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Helvetica Neue"/>
              </a:defRPr>
            </a:pPr>
            <a:r>
              <a:t>0 errors after fixes</a:t>
            </a:r>
            <a:br/>
            <a:r>
              <a:t>9 sampled frames OK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5440" y="2606040.0"/>
            <a:ext cx="91440" cy="0.0"/>
          </a:xfrm>
          <a:prstGeom prst="line">
            <a:avLst/>
          </a:prstGeom>
          <a:ln w="15875">
            <a:solidFill>
              <a:srgbClr val="0891B2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1828800"/>
            <a:ext cx="2103120" cy="155448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011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Helvetica Neue"/>
              </a:defRPr>
            </a:pPr>
            <a:r>
              <a:t>Render (ffmpeg)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42316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Helvetica Neue"/>
              </a:defRPr>
            </a:pPr>
            <a:r>
              <a:t>H.264 + AAC</a:t>
            </a:r>
            <a:br/>
            <a:r>
              <a:t>1920×1080, 69 s, 6.6 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Helvetica Neue"/>
              </a:defRPr>
            </a:pPr>
            <a:r>
              <a:t>Same pipeline produces sales deck via /tmp/ascelios-deck/build_deck.py (python-pptx).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Mock-to-real path is the same shape — replace screenshots, re-run build_deck.py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TTS is local (no API) — Python venv at /tmp/ascelios-tts-env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WebP fallback ships alongside MP4 for browsers that block autoplay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Modal embeds &lt;video controls autoPlay playsInline&gt; with poster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QUALITY · TEST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44 tests across 7 files. Vitest, ~1.6 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7772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7E8F9"/>
                </a:solidFill>
                <a:latin typeface="Menlo"/>
              </a:defRPr>
            </a:pPr>
            <a:r>
              <a:t>permissions.test.ts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FBBF24"/>
                </a:solidFill>
                <a:latin typeface="Menlo"/>
              </a:defRPr>
            </a:pPr>
            <a:r>
              <a:t>5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Role × action matrix; manage:users grant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11064240" cy="7772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7E8F9"/>
                </a:solidFill>
                <a:latin typeface="Menlo"/>
              </a:defRPr>
            </a:pPr>
            <a:r>
              <a:t>dynatrace/mz.test.ts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FBBF24"/>
                </a:solidFill>
                <a:latin typeface="Menlo"/>
              </a:defRPr>
            </a:pPr>
            <a:r>
              <a:t>7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9260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resolveTenantMz; parseTenantPayload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11064240" cy="7772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7E8F9"/>
                </a:solidFill>
                <a:latin typeface="Menlo"/>
              </a:defRPr>
            </a:pPr>
            <a:r>
              <a:t>dynatrace/client.test.ts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FBBF24"/>
                </a:solidFill>
                <a:latin typeface="Menlo"/>
              </a:defRPr>
            </a:pPr>
            <a:r>
              <a:t>4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8404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UnscopedQueryError on missing/empty/whitespace MZ + mock-mode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11064240" cy="7772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7E8F9"/>
                </a:solidFill>
                <a:latin typeface="Menlo"/>
              </a:defRPr>
            </a:pPr>
            <a:r>
              <a:t>dynatrace/mock.test.ts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FBBF24"/>
                </a:solidFill>
                <a:latin typeface="Menlo"/>
              </a:defRPr>
            </a:pPr>
            <a:r>
              <a:t>16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7548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Determinism, entity sparkline shape, metric series count, fallback shape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Helvetica Neue"/>
              </a:defRPr>
            </a:pPr>
            <a:r>
              <a:t>What's NOT tested yet: E2E (Playwright sketches exist); cross-MZ leakage integration test (Phase 1 design has a stub).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ROADMAP · PHASE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Phase 1+2 done. Phase 3-5 specced, unblocked.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640080"/>
          </a:xfrm>
          <a:prstGeom prst="round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64008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enl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Read-only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Menlo"/>
              </a:defRPr>
            </a:pPr>
            <a:r>
              <a:t>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82880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100" b="1">
                <a:solidFill>
                  <a:srgbClr val="34D399"/>
                </a:solidFill>
                <a:latin typeface="Menlo"/>
              </a:defRPr>
            </a:pPr>
            <a: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11064240" cy="640080"/>
          </a:xfrm>
          <a:prstGeom prst="round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11064240" cy="64008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enlo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Metrics +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060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Menlo"/>
              </a:defRPr>
            </a:pPr>
            <a:r>
              <a:t>2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60604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100" b="1">
                <a:solidFill>
                  <a:srgbClr val="34D399"/>
                </a:solidFill>
                <a:latin typeface="Menlo"/>
              </a:defRPr>
            </a:pPr>
            <a:r>
              <a:t>DONE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83280"/>
            <a:ext cx="11064240" cy="640080"/>
          </a:xfrm>
          <a:prstGeom prst="round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553212" cy="64008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83280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enlo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Auto MZ provisioning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3832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Menlo"/>
              </a:defRPr>
            </a:pPr>
            <a:r>
              <a:t>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3832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100" b="1">
                <a:solidFill>
                  <a:srgbClr val="FBBF24"/>
                </a:solidFill>
                <a:latin typeface="Menlo"/>
              </a:defRPr>
            </a:pPr>
            <a:r>
              <a:t>NEXT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60520"/>
            <a:ext cx="11064240" cy="640080"/>
          </a:xfrm>
          <a:prstGeom prst="round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enlo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605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Embedded iframe deep-dive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1605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Menlo"/>
              </a:defRPr>
            </a:pPr>
            <a:r>
              <a:t>1 week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37760"/>
            <a:ext cx="11064240" cy="640080"/>
          </a:xfrm>
          <a:prstGeom prst="roundRect">
            <a:avLst/>
          </a:prstGeom>
          <a:solidFill>
            <a:srgbClr val="0A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937760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enlo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9377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Logs + DQL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9377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Menlo"/>
              </a:defRPr>
            </a:pPr>
            <a:r>
              <a:t>2 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Helvetica Neue"/>
              </a:defRPr>
            </a:pPr>
            <a:r>
              <a:t>Each phase ships independently — UI consumes the same Dt* types throughout.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ROADMAP ·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Auto-provision MZs at onboarding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300">
                <a:solidFill>
                  <a:srgbClr val="CBD5E1"/>
                </a:solidFill>
                <a:latin typeface="Helvetica Neue"/>
              </a:rPr>
              <a:t>Hit Dynatrace Settings API to create the MZ when a tenant is created (vs. synthetic id today)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300">
                <a:solidFill>
                  <a:srgbClr val="CBD5E1"/>
                </a:solidFill>
                <a:latin typeface="Helvetica Neue"/>
              </a:rPr>
              <a:t>Provision an SSO group on the customer's IdP, bind it to the MZ permission group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300">
                <a:solidFill>
                  <a:srgbClr val="CBD5E1"/>
                </a:solidFill>
                <a:latin typeface="Helvetica Neue"/>
              </a:rPr>
              <a:t>Self-service "Reset alert rules" UI in the portal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300">
                <a:solidFill>
                  <a:srgbClr val="CBD5E1"/>
                </a:solidFill>
                <a:latin typeface="Helvetica Neue"/>
              </a:rPr>
              <a:t>Admin UI: re-bind MZ, rotate token, view MZ usage 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New Settings API endpoints we'd call: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97680"/>
            <a:ext cx="11064240" cy="1828800"/>
          </a:xfrm>
          <a:prstGeom prst="roundRect">
            <a:avLst/>
          </a:prstGeom>
          <a:solidFill>
            <a:srgbClr val="05141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8056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// New Dynatrace endpoints (require management-zones:write scope)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POST   /api/v2/settings/objects                            (create MZ)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POST   /api/v2/iam/groups                                  (permission group)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POST   /api/v2/iam/groups/{id}/permissions                 (bind to MZ)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CBD5E1"/>
                </a:solidFill>
                <a:latin typeface="Menlo"/>
              </a:rPr>
              <a:t>POST   /api/v2/iam/users/{id}/groups                       (assign customer SSO)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ROADMAP · PHASE 4 + 5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Iframe deep-dive and Grail-powered log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438912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640080" cy="6400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>
                <a:solidFill>
                  <a:srgbClr val="0D1F2D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enlo"/>
              </a:defRPr>
            </a:pPr>
            <a:r>
              <a:t>EMBEDDED DEEP-DIVE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Embed Dynatrace UI in iframe for Smartscape + full problem detail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Use Dynatrace embed tokens — signed, MZ-scoped, time-limited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Customer feels native: no "opens new tab" friction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Add to entity detail page and to /portal/monitoring problem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486400" cy="438912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640080" cy="64008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>
                <a:solidFill>
                  <a:srgbClr val="0D1F2D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0116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Menlo"/>
              </a:defRPr>
            </a:pPr>
            <a:r>
              <a:t>LOGS + DQL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A78BFA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POST /api/dynatrace/logs — sanitized DQL execution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A78BFA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Free-text search UI per host/service with time-range picker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A78BFA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Saved queries per customer (writes to user directory)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A78BFA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DQL helper: "convert SQL → DQL" command in palette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DECISIONS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Four locks needed before Phase 3 starts.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10058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640080" cy="6400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F2D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019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Menlo"/>
              </a:defRPr>
            </a:pPr>
            <a:r>
              <a:t>Dynatrace tenancy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402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Single env + MZ-per-customer (cheaper, recommended)</a:t>
            </a:r>
            <a:br/>
            <a:r>
              <a:t>or per-customer environments (~10× cost, strongest isolation)?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10058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640080" cy="64008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F2D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9923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Menlo"/>
              </a:defRPr>
            </a:pPr>
            <a:r>
              <a:t>Caching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In-memory for Phase 1+2 is fine.</a:t>
            </a:r>
            <a:br/>
            <a:r>
              <a:t>When do we deploy multi-region? → swap to Redis / @vercel/kv.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1064240" cy="10058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640080" cy="64008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F2D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0965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Menlo"/>
              </a:defRPr>
            </a:pPr>
            <a:r>
              <a:t>MZ provisioning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348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Manual via admin UI (Phase 1 ready)</a:t>
            </a:r>
            <a:br/>
            <a:r>
              <a:t>or automatic at signup (Phase 3 work)?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11064240" cy="1005840"/>
          </a:xfrm>
          <a:prstGeom prst="roundRect">
            <a:avLst/>
          </a:prstGeom>
          <a:solidFill>
            <a:srgbClr val="0A294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5212080"/>
            <a:ext cx="640080" cy="64008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12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F2D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937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Menlo"/>
              </a:defRPr>
            </a:pPr>
            <a:r>
              <a:t>Customer SSO into Dynatrace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321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Helvetica Neue"/>
              </a:defRPr>
            </a:pPr>
            <a:r>
              <a:t>Federation via Ascelios IdP</a:t>
            </a:r>
            <a:br/>
            <a:r>
              <a:t>or pre-create accounts in Dynatrace's own IdP?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enlo"/>
              </a:defRPr>
            </a:pPr>
            <a:r>
              <a:t>Full spec: docs/superpowers/specs/2026-05-15-dynatrace-portal-integration.md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800" b="1">
                <a:solidFill>
                  <a:srgbClr val="FFFFFF"/>
                </a:solidFill>
                <a:latin typeface="Helvetica Neue"/>
              </a:defRPr>
            </a:pPr>
            <a:r>
              <a:t>Anything we missed?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Helvetica Neue"/>
              </a:defRPr>
            </a:pPr>
            <a:r>
              <a:t>Engineering, security review, integration design — happy to go deeper on any slide.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760720"/>
            <a:ext cx="105156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engineering@ascelios.com  ·  docs at github.com/ascelios/portal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Technical 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