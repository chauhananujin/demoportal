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534095" y="914400"/>
            <a:ext cx="3200400" cy="3657600"/>
          </a:xfrm>
          <a:prstGeom prst="hexagon">
            <a:avLst/>
          </a:prstGeom>
          <a:noFill/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ASCELIOS · SALES DECK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800" b="1">
                <a:solidFill>
                  <a:srgbClr val="FFFFFF"/>
                </a:solidFill>
                <a:latin typeface="Helvetica Neue"/>
              </a:defRPr>
            </a:pPr>
            <a:r>
              <a:t>Cloud + SAP, Self-Serve.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800" b="1">
                <a:solidFill>
                  <a:srgbClr val="67E8F9"/>
                </a:solidFill>
                <a:latin typeface="Helvetica Neue"/>
              </a:defRPr>
            </a:pPr>
            <a:r>
              <a:t>Managed Service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Helvetica Neue"/>
              </a:defRPr>
            </a:pPr>
            <a:r>
              <a:t>Customers sign up in minutes, provision tenants across AWS / Azure / GCP, and get</a:t>
            </a:r>
            <a:br/>
            <a:r>
              <a:t>AI-powered observability for SAP — all from one portal.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105156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Helvetica Neue"/>
              </a:defRPr>
            </a:pPr>
            <a:r>
              <a:t>ascelios.com  ·  hello@ascelios.com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The marketing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Public, self-serve front door — visitors can sign up without a sales call. Watch-demo CTA plays a 69-second narrated walkthrough of the entire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MARKETING · 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One CTA → onboarded in 5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Hero with Get Started + Watch demo · 69 sec CTAs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Branded logo (cyan hex mark, dark wordmark) — animated SVG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Top nav: SAP · Data · BTP · Cloud · DevOps + Sign in / Get Started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Footer attribution to 5 service lines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Light- and dark-friendly across every breakpoint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MARKETING ·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Five service lines,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SAP Services — Basis, HANA, S/4HANA migrations, managed Ops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Data Services — BW/4HANA, BW→cloud warehouse, Gen AI accelerator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SAP BTP — clean-core extensions, Integration Suite, PI/PO migration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Cloud Infrastructure — AWS / Azure / GCP landing zones + FinOps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DevOps as a Service — CI/CD, IaC, SRE, 24/7 on-call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MARKETING · WATCH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69-second narrated walkthrough.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-watch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Modal player with native HTML5 video controls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11 scenes: marketing → onboarding → portal → command bar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Voiceover generated via local Kokoro-82M TTS (no API)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MP4 + AAC at 1920×1080, 6.6 MB — ships from /public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WebP loop fallback for browsers that block autoplay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End-to-end self-serve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A 5-step wizard creates the user, signs the MSA + DPA, provisions cloud tenants, and logs the customer into the portal. No sales touch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ONBOARDING · STEPS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Company + admin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Helvetica Neue"/>
              </a:defRPr>
            </a:pPr>
            <a:r>
              <a:t>Legal entity setup and admin credentials — captured in the first ~30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4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onboar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Step 1: Company 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936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onboarding-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3035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Step 2 → Services picker (5 options)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ONBOARDING · STEPS 3–5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Tenants, sign, provision.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Helvetica Neue"/>
              </a:defRPr>
            </a:pPr>
            <a:r>
              <a:t>Customer picks cloud + region, signs the MSA online, and watches live provisioning begin.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4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onboarding-te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Step 3: Cloud provider &amp; tenant naming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936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review-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3035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Step 4–5: Review &amp; sign — typed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PART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The Ascelios client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Helvetica Neue"/>
              </a:defRPr>
            </a:pPr>
            <a:r>
              <a:t>A single workspace for every operational concern — tenants, tickets, infrastructure, monitoring, billing, compliance, and team management. Two-stage RBAC throughout.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One greeting. Every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Provisioning banner — live progress bars per tenant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Stats row: Active services, Provisioned resources, Open tickets, Account balance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Infrastructure inventory with status chips per resource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FinOps engine — monthly cost-saving recommendations with engineering approach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Recent tickets + active services on a single scroll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AI-powered observability plane.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monitoring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Live console scoped to your Dynatrace Management Zone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6 metrics + sparklines + activity feed updating every 30 seconds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Stale/offline badging — never blocks the page on upstream failure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Sourced from /api/dynatrace/summary (Phase 1, in production)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Mock-mode default + 4 OAuth env vars to flip to live Dynatrace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Inventory → per-entity drill-down.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Helvetica Neue"/>
              </a:defRPr>
            </a:pPr>
            <a:r>
              <a:t>Every monitored resource is a clickable row. Click → 4 live metric charts + Dynatrace deep-link.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4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monitoring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Inventory — 8 entities, typed, with last-hour 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936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entity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3035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Per-entity: CPU / Memory / Disk / Throughput with deltas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CLOUD-NATIVE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Depth where you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Helvetica Neue"/>
              </a:defRPr>
            </a:pPr>
            <a:r>
              <a:t>First-party SAP observability layered on top of the Dynatrace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solidFill>
            <a:srgbClr val="0A2940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548640" cy="3657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D1F2D"/>
                </a:solidFill>
                <a:latin typeface="Helvetica Neue"/>
              </a:defRPr>
            </a:pPr>
            <a:r>
              <a:t>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End-to-End Observability for SAP on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CloudWatch Application Insights — auto-monitors for SAP HANA + NetWeaver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CloudWatch RUM — real-user telemetry for SAP Fiori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CloudWatch Internet Monitor — ISP-level latency to SAP endpoints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Compute Optimizer + SLOs — continuous right-sizing and burn-rate alerts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923C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Amazon Q CLI + MCP — natural-language root-cause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486400" cy="4114800"/>
          </a:xfrm>
          <a:prstGeom prst="rect">
            <a:avLst/>
          </a:prstGeom>
          <a:solidFill>
            <a:srgbClr val="0A294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331720"/>
            <a:ext cx="731520" cy="3657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100" b="1">
                <a:solidFill>
                  <a:srgbClr val="0D1F2D"/>
                </a:solidFill>
                <a:latin typeface="Helvetica Neue"/>
              </a:defRPr>
            </a:pPr>
            <a:r>
              <a:t>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31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Azure Monitor for SAP solutions (AMS)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SAP NetWeaver provider — Dispatcher / ICM / Gateway / Enqueue / IGS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SAP HANA provider — per-minute SQL pull, replication, backups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Database providers — Microsoft SQL Server, IBM Db2 for AnyDB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Pacemaker + Linux OS — HA cluster + OS metrics (SLES/RHEL for SAP)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8BDF8"/>
                </a:solidFill>
                <a:latin typeface="Helvetica Neue"/>
              </a:rPr>
              <a:t>›  </a:t>
            </a:r>
            <a:r>
              <a:rPr sz="1100">
                <a:solidFill>
                  <a:srgbClr val="CBD5E1"/>
                </a:solidFill>
                <a:latin typeface="Helvetica Neue"/>
              </a:rPr>
              <a:t>Workbooks + Log Analytics — KQL dashboards, alerts, Sentinel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TENANTS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Live provisioning, MZ-bound.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te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Each tenant maps 1:1 to a Dynatrace Management Zone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Provisioning bar ticks through 5 stages live (provisioning → active)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Multi-tenant safety: every API call MUST carry the MZ id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Tied to a signed Agreement record (hash + timestamp)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Add another tenant any time — one customer can run dev + prod or multi-cloud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Two-stage approval. SOX audit trail.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Every provisioning / SAP / infra change is a ticket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Stage 1 — Manager approves (or rejects with reason)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Stage 2 — Admin approves (executes the change)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User / Manager / Admin permissions enforced via hasPermission()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Full audit trail visible to the customer — exportable for auditors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⌘K COMMAND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Every action, one keystroke.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0640" y="1733080"/>
            <a:ext cx="6775120" cy="43062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-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6751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Global ⌘K (or Ctrl+K) from anywhere in the portal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Slash commands: /approve TKT-XXXX · /reject · /provision · /go &lt;page&gt;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Search across tickets, tenants, pages with fuzzy matching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Inline approvals — managers/admins can clear the queue keyboard-first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6B6D4"/>
                </a:solidFill>
                <a:latin typeface="Helvetica Neue"/>
              </a:rPr>
              <a:t>›  </a:t>
            </a:r>
            <a:r>
              <a:rPr sz="1400">
                <a:solidFill>
                  <a:srgbClr val="CBD5E1"/>
                </a:solidFill>
                <a:latin typeface="Helvetica Neue"/>
              </a:rPr>
              <a:t>Ask mode falls back to natural-language Q&amp;A on portal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PORTAL · ADMIN + COMFORT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Helvetica Neue"/>
              </a:defRPr>
            </a:pPr>
            <a:r>
              <a:t>Customer-owned user management + theme toggle.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Helvetica Neue"/>
              </a:defRPr>
            </a:pPr>
            <a:r>
              <a:t>Admins create user logins and assign roles. Both themes ship — light mode for daytime 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64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3035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Users admin — RBAC role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9360" y="2144560"/>
            <a:ext cx="5403520" cy="33918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dashboard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94560"/>
            <a:ext cx="53035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</a:defRPr>
            </a:pPr>
            <a:r>
              <a:t>Light theme — full coverage, persistent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Helvetica Neue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Helvetica Neue"/>
              </a:defRPr>
            </a:pPr>
            <a:r>
              <a:t>What customers see in the first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Helvetica Neue"/>
              </a:defRPr>
            </a:pPr>
            <a:r>
              <a:t>Aligned with leading observability platforms — Ascelios delivers the operate-it layer on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3566160" cy="23774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Helvetica Neue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Helvetica Neue"/>
              </a:defRPr>
            </a:pPr>
            <a:r>
              <a:t>Operations productivity gain from AI-driven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108960"/>
            <a:ext cx="3566160" cy="23774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Helvetica Neue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572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Helvetica Neue"/>
              </a:defRPr>
            </a:pPr>
            <a:r>
              <a:t>Fewer major outages and service degradations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3566160" cy="2377440"/>
          </a:xfrm>
          <a:prstGeom prst="rect">
            <a:avLst/>
          </a:prstGeom>
          <a:solidFill>
            <a:srgbClr val="0A2940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47472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06B6D4"/>
                </a:solidFill>
                <a:latin typeface="Helvetica Neue"/>
              </a:defRPr>
            </a:pPr>
            <a: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5720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Helvetica Neue"/>
              </a:defRPr>
            </a:pPr>
            <a:r>
              <a:t>Improvement in mean time to recovery (MTTR)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52160"/>
            <a:ext cx="109728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Helvetica Neue"/>
              </a:defRPr>
            </a:pPr>
            <a:r>
              <a:t>Get started → ascelios.com/onboarding   ·   hello@ascelios.com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Ascelios — Cloud + SAP Managed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Helvetica Neue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